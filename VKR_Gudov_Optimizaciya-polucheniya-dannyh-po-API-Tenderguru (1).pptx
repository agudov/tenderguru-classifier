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9" r:id="rId11"/>
    <p:sldId id="271" r:id="rId12"/>
    <p:sldId id="272" r:id="rId13"/>
    <p:sldId id="273" r:id="rId14"/>
    <p:sldId id="274" r:id="rId15"/>
    <p:sldId id="264" r:id="rId16"/>
    <p:sldId id="265" r:id="rId17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Consolas" panose="020B0609020204030204" pitchFamily="49" charset="0"/>
      <p:regular r:id="rId23"/>
      <p:bold r:id="rId24"/>
      <p:italic r:id="rId25"/>
      <p:boldItalic r:id="rId26"/>
    </p:embeddedFont>
    <p:embeddedFont>
      <p:font typeface="Open Sans" panose="020B0606030504020204" pitchFamily="34" charset="0"/>
      <p:regular r:id="rId27"/>
      <p:bold r:id="rId28"/>
      <p:italic r:id="rId29"/>
      <p:boldItalic r:id="rId30"/>
    </p:embeddedFont>
    <p:embeddedFont>
      <p:font typeface="Open Sans Bold" pitchFamily="2" charset="0"/>
      <p:regular r:id="rId31"/>
      <p:bold r:id="rId32"/>
    </p:embeddedFont>
    <p:embeddedFont>
      <p:font typeface="Playfair Display" pitchFamily="2" charset="0"/>
      <p:regular r:id="rId33"/>
      <p:bold r:id="rId34"/>
      <p:italic r:id="rId35"/>
      <p:boldItalic r:id="rId36"/>
    </p:embeddedFont>
    <p:embeddedFont>
      <p:font typeface="Playfair Display Bold" pitchFamily="2" charset="0"/>
      <p:regular r:id="rId37"/>
      <p:bold r:id="rId3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157" d="100"/>
          <a:sy n="157" d="100"/>
        </p:scale>
        <p:origin x="32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presProps" Target="presProps.xml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font" Target="fonts/font19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font" Target="fonts/font2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9853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41505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Оптимизация получения данных по API Tenderguru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513633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Классификация тендеров на поставки и работы с помощью ML/DL-моделей для снижения затрат на API-запросы и нагрузки на сервер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126730"/>
            <a:ext cx="3305026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10101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1174" y="3169221"/>
            <a:ext cx="359211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10101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ВЫПУСКНАЯ КВАЛИФИКАЦИОННАЯ РАБОТА DS-21 · ВШЭ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96119" y="3501554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· Научный руководитель: Паточенко Е.А. </a:t>
            </a:r>
            <a:r>
              <a:rPr lang="en-US" sz="1100" dirty="0" err="1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Автор</a:t>
            </a: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</a:t>
            </a:r>
            <a:r>
              <a:rPr lang="en-US" sz="1100" dirty="0" err="1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Гудов</a:t>
            </a: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А.В. 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791840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Проблема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447428"/>
            <a:ext cx="2290465" cy="1718742"/>
          </a:xfrm>
          <a:prstGeom prst="roundRect">
            <a:avLst>
              <a:gd name="adj" fmla="val 1237"/>
            </a:avLst>
          </a:prstGeom>
          <a:solidFill>
            <a:srgbClr val="E0E0EC"/>
          </a:solidFill>
          <a:ln/>
        </p:spPr>
      </p:sp>
      <p:sp>
        <p:nvSpPr>
          <p:cNvPr id="5" name="Text 2"/>
          <p:cNvSpPr/>
          <p:nvPr/>
        </p:nvSpPr>
        <p:spPr>
          <a:xfrm>
            <a:off x="637877" y="1589187"/>
            <a:ext cx="200694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Нет фильтрации по API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37877" y="2117154"/>
            <a:ext cx="200694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Tenderguru не фильтрует тендеры по типу — поставщики вынуждены скачивать все данные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8342" y="1447428"/>
            <a:ext cx="2290539" cy="1718742"/>
          </a:xfrm>
          <a:prstGeom prst="roundRect">
            <a:avLst>
              <a:gd name="adj" fmla="val 1237"/>
            </a:avLst>
          </a:prstGeom>
          <a:solidFill>
            <a:srgbClr val="E0E0EC"/>
          </a:solidFill>
          <a:ln/>
        </p:spPr>
      </p:sp>
      <p:sp>
        <p:nvSpPr>
          <p:cNvPr id="8" name="Text 5"/>
          <p:cNvSpPr/>
          <p:nvPr/>
        </p:nvSpPr>
        <p:spPr>
          <a:xfrm>
            <a:off x="3070101" y="1589187"/>
            <a:ext cx="2007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Переплата за тариф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70101" y="1895698"/>
            <a:ext cx="20070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Избыточные запросы ведут к росту тарифных затрат и перегрузке сервера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3307928"/>
            <a:ext cx="4722763" cy="1043657"/>
          </a:xfrm>
          <a:prstGeom prst="roundRect">
            <a:avLst>
              <a:gd name="adj" fmla="val 2038"/>
            </a:avLst>
          </a:prstGeom>
          <a:solidFill>
            <a:srgbClr val="E0E0EC"/>
          </a:solidFill>
          <a:ln/>
        </p:spPr>
      </p:sp>
      <p:sp>
        <p:nvSpPr>
          <p:cNvPr id="11" name="Text 8"/>
          <p:cNvSpPr/>
          <p:nvPr/>
        </p:nvSpPr>
        <p:spPr>
          <a:xfrm>
            <a:off x="637877" y="3449687"/>
            <a:ext cx="4439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Ручная сортировка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37877" y="3756199"/>
            <a:ext cx="44392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Поставки и работы имеют разную маржинальность, но требуют одинакового подхода при скачивании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2534"/>
            <a:ext cx="8151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Бизнес-задача и цель работы</a:t>
            </a:r>
            <a:endParaRPr lang="en-US" sz="2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79637"/>
            <a:ext cx="5194622" cy="29219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92713" y="1034876"/>
            <a:ext cx="265993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Что нужно поставщикам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992713" y="1329854"/>
            <a:ext cx="2659931" cy="1087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Автоматически разделять тендеры на </a:t>
            </a:r>
            <a:r>
              <a:rPr lang="en-US" sz="9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поставки (supply)</a:t>
            </a: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и </a:t>
            </a:r>
            <a:r>
              <a:rPr lang="en-US" sz="9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работы (work)</a:t>
            </a: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на основе только названия — маржинальность направлений различается и требует разного подхода к формированию КП.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992713" y="2521669"/>
            <a:ext cx="265993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Цель исследования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992713" y="2816647"/>
            <a:ext cx="2659931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Сравнить </a:t>
            </a:r>
            <a:r>
              <a:rPr lang="en-US" sz="9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8 моделей ML/DL</a:t>
            </a: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для классификации тендеров, чтобы сократить запросы к API, снизить тарифные расходы и уменьшить нагрузку на сервер.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992713" y="3659163"/>
            <a:ext cx="2659931" cy="974080"/>
          </a:xfrm>
          <a:prstGeom prst="roundRect">
            <a:avLst>
              <a:gd name="adj" fmla="val 1876"/>
            </a:avLst>
          </a:prstGeom>
          <a:solidFill>
            <a:srgbClr val="E3E3E8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529" y="3825701"/>
            <a:ext cx="152251" cy="1218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88596" y="3783806"/>
            <a:ext cx="2142232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Ни один существующий сервис не решает задачу маржинальной фильтрации на основе только названия тендера.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6066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Существующие подходы и пробел в решениях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158008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Классический подход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521223"/>
            <a:ext cx="3902943" cy="1034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Поиск по ключевым словам, фильтрация по региону, цене и способу закупки — </a:t>
            </a:r>
            <a:r>
              <a:rPr lang="en-US" sz="11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не понимает смысла</a:t>
            </a: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не учитывает контекст.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До </a:t>
            </a:r>
            <a:r>
              <a:rPr lang="en-US" sz="11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60% времени</a:t>
            </a: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уходит на ручной анализ.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2158008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Пробел на рынке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49701" y="2521223"/>
            <a:ext cx="390294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Ни один сервис не разделяет выигранные тендеры на </a:t>
            </a:r>
            <a:r>
              <a:rPr lang="en-US" sz="11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supply</a:t>
            </a: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и </a:t>
            </a:r>
            <a:r>
              <a:rPr lang="en-US" sz="11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work</a:t>
            </a: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на основе только названия. Существующие платформы не предоставляют маржинальную фильтрацию, которая нужна поставщикам.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930"/>
            <a:ext cx="673894" cy="188565"/>
          </a:xfrm>
          <a:prstGeom prst="roundRect">
            <a:avLst>
              <a:gd name="adj" fmla="val 7894"/>
            </a:avLst>
          </a:prstGeom>
          <a:solidFill>
            <a:srgbClr val="E3E3E8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427137"/>
            <a:ext cx="982266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ЭТАПЫ 1–2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21878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Сбор данных и разметка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407" y="1172170"/>
            <a:ext cx="6339185" cy="29012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56361" y="3384469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11 523 JSON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756456" y="3384469"/>
            <a:ext cx="1190143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Разметка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264702" y="3155203"/>
            <a:ext cx="1190142" cy="687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62 000 ContractName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740341" y="3384469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Сбор данных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6119" y="4195465"/>
            <a:ext cx="8151763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Скрипт </a:t>
            </a:r>
            <a:r>
              <a:rPr lang="en-US" sz="95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winnercollect_new.py</a:t>
            </a: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отправляет GET-запрос к API Tenderguru и получает ключевое поле </a:t>
            </a:r>
            <a:r>
              <a:rPr lang="en-US" sz="95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ContractName</a:t>
            </a: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наименование 62 000 тендеров. Разметка выполняется с помощью GigaChat-Max (LLM) на основе промпта, определяющего класс по названию: </a:t>
            </a:r>
            <a:r>
              <a:rPr lang="en-US" sz="9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supply</a:t>
            </a: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поставка товаров, </a:t>
            </a:r>
            <a:r>
              <a:rPr lang="en-US" sz="9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work</a:t>
            </a: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выполнение работ/услуг. Результат: </a:t>
            </a:r>
            <a:r>
              <a:rPr lang="en-US" sz="9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11 523 размеченных записи</a:t>
            </a: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в формате JSON.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276002" cy="107603"/>
          </a:xfrm>
          <a:prstGeom prst="roundRect">
            <a:avLst>
              <a:gd name="adj" fmla="val 7905"/>
            </a:avLst>
          </a:prstGeom>
          <a:solidFill>
            <a:srgbClr val="E3E3E8"/>
          </a:solidFill>
          <a:ln/>
        </p:spPr>
      </p:sp>
      <p:sp>
        <p:nvSpPr>
          <p:cNvPr id="3" name="Text 1"/>
          <p:cNvSpPr/>
          <p:nvPr/>
        </p:nvSpPr>
        <p:spPr>
          <a:xfrm>
            <a:off x="538609" y="411063"/>
            <a:ext cx="648221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ЭТАП 3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Обучение 8 моделей классификации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825996"/>
            <a:ext cx="3989412" cy="39894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232" y="2417713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Подготовка данных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4663232" y="2563862"/>
            <a:ext cx="444661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Датасет разбит на выборки: </a:t>
            </a:r>
            <a:r>
              <a:rPr lang="en-US" sz="5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Train 70%</a:t>
            </a:r>
            <a:r>
              <a:rPr lang="en-US" sz="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5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Val 15%</a:t>
            </a:r>
            <a:r>
              <a:rPr lang="en-US" sz="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5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Test 15%</a:t>
            </a:r>
            <a:r>
              <a:rPr lang="en-US" sz="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4663232" y="2684338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Методы векторизации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4663232" y="2830488"/>
            <a:ext cx="3989412" cy="279871"/>
          </a:xfrm>
          <a:prstGeom prst="rect">
            <a:avLst/>
          </a:prstGeom>
          <a:noFill/>
          <a:ln/>
        </p:spPr>
        <p:txBody>
          <a:bodyPr wrap="square" lIns="0" tIns="28353" rIns="0" bIns="0" rtlCol="0" anchor="t">
            <a:normAutofit/>
          </a:bodyPr>
          <a:lstStyle/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TF-IDF — для ML-моделей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RuBERT эмбеддинги — для гибридных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RuBERT встроенная — для нейросетей</a:t>
            </a:r>
            <a:endParaRPr lang="en-US" sz="550" dirty="0"/>
          </a:p>
        </p:txBody>
      </p:sp>
      <p:sp>
        <p:nvSpPr>
          <p:cNvPr id="10" name="Text 7"/>
          <p:cNvSpPr/>
          <p:nvPr/>
        </p:nvSpPr>
        <p:spPr>
          <a:xfrm>
            <a:off x="4663232" y="3142208"/>
            <a:ext cx="444661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Дообучение применялось в вариантах </a:t>
            </a:r>
            <a:r>
              <a:rPr lang="en-US" sz="5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04, 06, 08</a:t>
            </a:r>
            <a:r>
              <a:rPr lang="en-US" sz="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171724"/>
            <a:ext cx="552450" cy="215354"/>
          </a:xfrm>
          <a:prstGeom prst="roundRect">
            <a:avLst>
              <a:gd name="adj" fmla="val 7900"/>
            </a:avLst>
          </a:prstGeom>
          <a:solidFill>
            <a:srgbClr val="E3E3E8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214214"/>
            <a:ext cx="83953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ЭТАП 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44378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Инференс и применение моделей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2099370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2321272"/>
            <a:ext cx="2622724" cy="1905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7" name="Text 5"/>
          <p:cNvSpPr/>
          <p:nvPr/>
        </p:nvSpPr>
        <p:spPr>
          <a:xfrm>
            <a:off x="496119" y="2430214"/>
            <a:ext cx="262272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Инференс на полном датасете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6119" y="2958182"/>
            <a:ext cx="262272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Все 8 моделей применяются к </a:t>
            </a:r>
            <a:r>
              <a:rPr lang="en-US" sz="11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62 361 контракту</a:t>
            </a: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→ 8 файлов </a:t>
            </a:r>
            <a:r>
              <a:rPr lang="en-US" sz="11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predictions_XX.csv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60601" y="2099370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60601" y="2321272"/>
            <a:ext cx="2622724" cy="1905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11" name="Text 9"/>
          <p:cNvSpPr/>
          <p:nvPr/>
        </p:nvSpPr>
        <p:spPr>
          <a:xfrm>
            <a:off x="3260601" y="2430214"/>
            <a:ext cx="262272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Фильтрация лучшей моделью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60601" y="2958182"/>
            <a:ext cx="262272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Модель </a:t>
            </a:r>
            <a:r>
              <a:rPr lang="en-US" sz="11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07_RuBERT_base</a:t>
            </a: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разделяет все контракты на классы </a:t>
            </a:r>
            <a:r>
              <a:rPr lang="en-US" sz="11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supply</a:t>
            </a: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и </a:t>
            </a:r>
            <a:r>
              <a:rPr lang="en-US" sz="11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work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25083" y="2099370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25083" y="2321272"/>
            <a:ext cx="2622724" cy="1905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15" name="Text 13"/>
          <p:cNvSpPr/>
          <p:nvPr/>
        </p:nvSpPr>
        <p:spPr>
          <a:xfrm>
            <a:off x="6025083" y="2430214"/>
            <a:ext cx="262272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Выгрузка только по поставкам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025083" y="2958182"/>
            <a:ext cx="262272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Скрипт </a:t>
            </a:r>
            <a:r>
              <a:rPr lang="en-US" sz="11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fetch_tender_details.py</a:t>
            </a: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скачивает детали только по </a:t>
            </a:r>
            <a:r>
              <a:rPr lang="en-US" sz="11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TenderId</a:t>
            </a: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из </a:t>
            </a:r>
            <a:r>
              <a:rPr lang="en-US" sz="11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supply</a:t>
            </a: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запросы к API снижены на </a:t>
            </a:r>
            <a:r>
              <a:rPr lang="en-US" sz="11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~50%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89570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Сводные результаты всех 8 моделей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96119" y="1154013"/>
            <a:ext cx="8151763" cy="3499842"/>
          </a:xfrm>
          <a:prstGeom prst="roundRect">
            <a:avLst>
              <a:gd name="adj" fmla="val 570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0881" y="1158776"/>
            <a:ext cx="8142238" cy="36492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34008" y="1238250"/>
            <a:ext cx="84035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№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87735" y="1238250"/>
            <a:ext cx="197785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Модель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078956" y="1238250"/>
            <a:ext cx="116368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Accuracy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056013" y="1238250"/>
            <a:ext cx="116368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33070" y="1238250"/>
            <a:ext cx="116368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Recall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10126" y="1238250"/>
            <a:ext cx="116368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F1-Score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87183" y="1238250"/>
            <a:ext cx="116368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ROC-AUC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964239" y="1238250"/>
            <a:ext cx="100317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Время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0881" y="1523702"/>
            <a:ext cx="8142238" cy="36492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34008" y="1603177"/>
            <a:ext cx="84035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87735" y="1603177"/>
            <a:ext cx="197785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LogReg + TF-IDF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78956" y="1603177"/>
            <a:ext cx="116368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0.9770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56013" y="1603177"/>
            <a:ext cx="116368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0.9790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33070" y="1603177"/>
            <a:ext cx="116368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0.9838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10126" y="1603177"/>
            <a:ext cx="116368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0.9814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87183" y="1603177"/>
            <a:ext cx="116368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0.9971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964239" y="1603177"/>
            <a:ext cx="100317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~5 сек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0881" y="1888629"/>
            <a:ext cx="8142238" cy="36492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34008" y="1968103"/>
            <a:ext cx="84035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87735" y="1968103"/>
            <a:ext cx="197785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CatBoost + TF-IDF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078956" y="1968103"/>
            <a:ext cx="116368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0.9744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056013" y="1968103"/>
            <a:ext cx="116368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0.9703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33070" y="1968103"/>
            <a:ext cx="116368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0.9887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10126" y="1968103"/>
            <a:ext cx="116368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0.9794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87183" y="1968103"/>
            <a:ext cx="116368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0.9956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964239" y="1968103"/>
            <a:ext cx="100317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~17 сек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0881" y="2253555"/>
            <a:ext cx="8142238" cy="36492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34008" y="2333030"/>
            <a:ext cx="84035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287735" y="2333030"/>
            <a:ext cx="197785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LogReg + RuBERT (base)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078956" y="2333030"/>
            <a:ext cx="116368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0.9779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056013" y="2333030"/>
            <a:ext cx="116368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0.9865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33070" y="2333030"/>
            <a:ext cx="116368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0.9775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10126" y="2333030"/>
            <a:ext cx="116368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0.9820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87183" y="2333030"/>
            <a:ext cx="116368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0.9972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964239" y="2333030"/>
            <a:ext cx="100317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~75 сек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00881" y="2618482"/>
            <a:ext cx="8142238" cy="36492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34008" y="2697956"/>
            <a:ext cx="84035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287735" y="2697956"/>
            <a:ext cx="197785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LogReg + RuBERT (ft)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078956" y="2697956"/>
            <a:ext cx="116368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0.9779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056013" y="2697956"/>
            <a:ext cx="116368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0.9865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033070" y="2697956"/>
            <a:ext cx="116368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0.9775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010126" y="2697956"/>
            <a:ext cx="116368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0.9820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987183" y="2697956"/>
            <a:ext cx="116368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0.9972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964239" y="2697956"/>
            <a:ext cx="100317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~72 сек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00881" y="2983409"/>
            <a:ext cx="8142238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34008" y="3062883"/>
            <a:ext cx="84035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05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287735" y="3062883"/>
            <a:ext cx="1520651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CatBoost + RuBERT (base)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078956" y="3062883"/>
            <a:ext cx="116368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0.9740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056013" y="3062883"/>
            <a:ext cx="116368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0.9782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033070" y="3062883"/>
            <a:ext cx="116368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0.9796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010126" y="3062883"/>
            <a:ext cx="116368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0.9789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987183" y="3062883"/>
            <a:ext cx="116368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0.9972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964239" y="3062883"/>
            <a:ext cx="100317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~86 сек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00881" y="3554313"/>
            <a:ext cx="8142238" cy="36492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634008" y="3633788"/>
            <a:ext cx="84035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06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287735" y="3633788"/>
            <a:ext cx="197785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CatBoost + RuBERT (ft)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3078956" y="3633788"/>
            <a:ext cx="116368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0.9740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056013" y="3633788"/>
            <a:ext cx="116368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0.9782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033070" y="3633788"/>
            <a:ext cx="116368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0.9796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010126" y="3633788"/>
            <a:ext cx="116368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0.9789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987183" y="3633788"/>
            <a:ext cx="116368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0.9972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964239" y="3633788"/>
            <a:ext cx="100317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~89 сек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00881" y="3919240"/>
            <a:ext cx="8142238" cy="36492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634008" y="3998714"/>
            <a:ext cx="84035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07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1287735" y="3998714"/>
            <a:ext cx="197785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RuBERT (base) ★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3078956" y="3998714"/>
            <a:ext cx="116368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0.9925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4056013" y="3998714"/>
            <a:ext cx="116368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0.9944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5033070" y="3998714"/>
            <a:ext cx="116368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0.9934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6010126" y="3998714"/>
            <a:ext cx="116368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0.9939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6987183" y="3998714"/>
            <a:ext cx="116368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0.9992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7964239" y="3998714"/>
            <a:ext cx="100317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~176 сек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500881" y="4284166"/>
            <a:ext cx="8142238" cy="36492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634008" y="4363641"/>
            <a:ext cx="84035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08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1287735" y="4363641"/>
            <a:ext cx="197785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RuBERT (ft)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3078956" y="4363641"/>
            <a:ext cx="116368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0.9902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4056013" y="4363641"/>
            <a:ext cx="116368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0.9934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5033070" y="4363641"/>
            <a:ext cx="116368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0.9906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6010126" y="4363641"/>
            <a:ext cx="116368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0.9920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6987183" y="4363641"/>
            <a:ext cx="116368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0.9989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7964239" y="4363641"/>
            <a:ext cx="100317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~293 сек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Архитектура лучшей модели — RuBERT base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96119" y="2162026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Параметры модели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2313905"/>
            <a:ext cx="3986733" cy="393725"/>
          </a:xfrm>
          <a:prstGeom prst="rect">
            <a:avLst/>
          </a:prstGeom>
          <a:noFill/>
          <a:ln/>
        </p:spPr>
        <p:txBody>
          <a:bodyPr wrap="square" lIns="0" tIns="29240" rIns="0" bIns="0" rtlCol="0" anchor="t">
            <a:normAutofit/>
          </a:bodyPr>
          <a:lstStyle/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RuBERT (DeepPavlov/rubert-base-cased), 12 слоёв encoder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Размерность эмбеддинга: 768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~110 млн параметров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Классификационная голова: полносвязный слой на 2 класса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496119" y="2745284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Этапы работы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96119" y="2897163"/>
            <a:ext cx="3986733" cy="39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1000"/>
              </a:lnSpc>
              <a:buSzPct val="100000"/>
              <a:buFont typeface="+mj-lt"/>
              <a:buAutoNum type="arabicPeriod"/>
            </a:pPr>
            <a:r>
              <a:rPr lang="en-US" sz="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Входной текст — название тендера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Font typeface="+mj-lt"/>
              <a:buAutoNum type="arabicPeriod" startAt="2"/>
            </a:pPr>
            <a:r>
              <a:rPr lang="en-US" sz="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Токенизация: [CLS], [SEP], pad/truncate до 128 токенов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Font typeface="+mj-lt"/>
              <a:buAutoNum type="arabicPeriod" startAt="3"/>
            </a:pPr>
            <a:r>
              <a:rPr lang="en-US" sz="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Проход через 12 слоёв self-attention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Font typeface="+mj-lt"/>
              <a:buAutoNum type="arabicPeriod" startAt="4"/>
            </a:pPr>
            <a:r>
              <a:rPr lang="en-US" sz="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Вектор [CLS] → логиты → softmax → класс</a:t>
            </a:r>
            <a:endParaRPr lang="en-US" sz="5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911" y="720849"/>
            <a:ext cx="3986733" cy="39867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FA7DAB2-A0BF-35AD-65A7-802701B9A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2" y="663546"/>
            <a:ext cx="4936142" cy="3406747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B08192DC-B8C1-742C-6DC1-2650ACA9FA59}"/>
              </a:ext>
            </a:extLst>
          </p:cNvPr>
          <p:cNvSpPr/>
          <p:nvPr/>
        </p:nvSpPr>
        <p:spPr>
          <a:xfrm>
            <a:off x="131977" y="101152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14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Примеры поэтапной работы модели</a:t>
            </a:r>
            <a:endParaRPr lang="en-US" sz="14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763AB26-8057-E8FD-7A3C-FCF74C1D1F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8902" y="663546"/>
            <a:ext cx="3965098" cy="340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30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38997A3-C852-A3DE-3410-FA83A1AEAC60}"/>
              </a:ext>
            </a:extLst>
          </p:cNvPr>
          <p:cNvSpPr/>
          <p:nvPr/>
        </p:nvSpPr>
        <p:spPr>
          <a:xfrm>
            <a:off x="131977" y="101152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1400" b="1" i="0" dirty="0">
                <a:effectLst/>
                <a:latin typeface="quote-cjk-patch"/>
              </a:rPr>
              <a:t>Визуализация </a:t>
            </a:r>
            <a:r>
              <a:rPr lang="ru-RU" sz="1400" b="1" i="0" dirty="0" err="1">
                <a:effectLst/>
                <a:latin typeface="quote-cjk-patch"/>
              </a:rPr>
              <a:t>эмбеддингов</a:t>
            </a:r>
            <a:r>
              <a:rPr lang="ru-RU" sz="1400" b="1" i="0" dirty="0">
                <a:effectLst/>
                <a:latin typeface="quote-cjk-patch"/>
              </a:rPr>
              <a:t> </a:t>
            </a:r>
            <a:r>
              <a:rPr lang="en" sz="1400" b="1" i="0" dirty="0" err="1">
                <a:effectLst/>
                <a:latin typeface="quote-cjk-patch"/>
              </a:rPr>
              <a:t>RuBERT</a:t>
            </a:r>
            <a:r>
              <a:rPr lang="en" sz="1400" b="1" i="0" dirty="0">
                <a:effectLst/>
                <a:latin typeface="quote-cjk-patch"/>
              </a:rPr>
              <a:t> (t‑SNE)</a:t>
            </a:r>
            <a:endParaRPr lang="en-US" sz="1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CFE8CBC-CB06-1BF6-2253-E4E773EDC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28" y="845671"/>
            <a:ext cx="7772400" cy="22327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8C54C0-2562-7194-B48A-940080670AC5}"/>
              </a:ext>
            </a:extLst>
          </p:cNvPr>
          <p:cNvSpPr txBox="1"/>
          <p:nvPr/>
        </p:nvSpPr>
        <p:spPr>
          <a:xfrm>
            <a:off x="131977" y="3150801"/>
            <a:ext cx="683979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200" b="0" dirty="0">
                <a:effectLst/>
                <a:latin typeface="quote-cjk-patch"/>
              </a:rPr>
              <a:t>t‑SNE </a:t>
            </a:r>
            <a:r>
              <a:rPr lang="ru-RU" sz="1200" b="0" dirty="0">
                <a:effectLst/>
                <a:latin typeface="quote-cjk-patch"/>
              </a:rPr>
              <a:t>проекция </a:t>
            </a:r>
            <a:r>
              <a:rPr lang="ru-RU" sz="1200" b="0" dirty="0" err="1">
                <a:effectLst/>
                <a:latin typeface="quote-cjk-patch"/>
              </a:rPr>
              <a:t>эмбеддингов</a:t>
            </a:r>
            <a:r>
              <a:rPr lang="ru-RU" sz="1200" b="0" dirty="0">
                <a:effectLst/>
                <a:latin typeface="quote-cjk-patch"/>
              </a:rPr>
              <a:t> [</a:t>
            </a:r>
            <a:r>
              <a:rPr lang="en" sz="1200" b="0" dirty="0">
                <a:effectLst/>
                <a:latin typeface="quote-cjk-patch"/>
              </a:rPr>
              <a:t>CLS] </a:t>
            </a:r>
            <a:r>
              <a:rPr lang="ru-RU" sz="1200" b="0" dirty="0">
                <a:effectLst/>
                <a:latin typeface="quote-cjk-patch"/>
              </a:rPr>
              <a:t>на трёх слоях </a:t>
            </a:r>
            <a:r>
              <a:rPr lang="en" sz="1200" b="0" dirty="0" err="1">
                <a:effectLst/>
                <a:latin typeface="quote-cjk-patch"/>
              </a:rPr>
              <a:t>RuBERT</a:t>
            </a:r>
            <a:r>
              <a:rPr lang="en" sz="1200" b="0" dirty="0">
                <a:effectLst/>
                <a:latin typeface="quote-cjk-patch"/>
              </a:rPr>
              <a:t>. </a:t>
            </a:r>
            <a:r>
              <a:rPr lang="ru-RU" sz="1200" b="0" dirty="0">
                <a:effectLst/>
                <a:latin typeface="quote-cjk-patch"/>
              </a:rPr>
              <a:t>На входе классы перемешаны, на 6‑м слое появляется структура, на выходном (12‑й слой) — чёткие кластеры </a:t>
            </a:r>
            <a:r>
              <a:rPr lang="en" sz="1200" b="0" dirty="0">
                <a:effectLst/>
                <a:latin typeface="quote-cjk-patch"/>
              </a:rPr>
              <a:t>Supply </a:t>
            </a:r>
            <a:r>
              <a:rPr lang="ru-RU" sz="1200" b="0" dirty="0">
                <a:effectLst/>
                <a:latin typeface="quote-cjk-patch"/>
              </a:rPr>
              <a:t>и </a:t>
            </a:r>
            <a:r>
              <a:rPr lang="en" sz="1200" b="0" dirty="0">
                <a:effectLst/>
                <a:latin typeface="quote-cjk-patch"/>
              </a:rPr>
              <a:t>Work. </a:t>
            </a:r>
            <a:r>
              <a:rPr lang="ru-RU" sz="1200" b="0" dirty="0">
                <a:effectLst/>
                <a:latin typeface="quote-cjk-patch"/>
              </a:rPr>
              <a:t>Это подтверждает, что модель самостоятельно выделяет семантику классов, что и обеспечивает высокую точность (</a:t>
            </a:r>
            <a:r>
              <a:rPr lang="en" sz="1200" b="0" dirty="0">
                <a:effectLst/>
                <a:latin typeface="quote-cjk-patch"/>
              </a:rPr>
              <a:t>F1 = 0.9939).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05875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38997A3-C852-A3DE-3410-FA83A1AEAC60}"/>
              </a:ext>
            </a:extLst>
          </p:cNvPr>
          <p:cNvSpPr/>
          <p:nvPr/>
        </p:nvSpPr>
        <p:spPr>
          <a:xfrm>
            <a:off x="131977" y="101152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1400" b="1" i="0" dirty="0">
                <a:effectLst/>
                <a:latin typeface="quote-cjk-patch"/>
              </a:rPr>
              <a:t>Визуализация внимания </a:t>
            </a:r>
            <a:r>
              <a:rPr lang="en" sz="1400" b="1" i="0" dirty="0" err="1">
                <a:effectLst/>
                <a:latin typeface="quote-cjk-patch"/>
              </a:rPr>
              <a:t>RuBERT</a:t>
            </a:r>
            <a:endParaRPr lang="en-US" sz="1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B7C2043-8448-FFAA-2402-EE9AEA3A9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77" y="404601"/>
            <a:ext cx="5038834" cy="44587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C20347F-AF92-56DF-4C9C-1BF0D06AD4C4}"/>
              </a:ext>
            </a:extLst>
          </p:cNvPr>
          <p:cNvSpPr txBox="1"/>
          <p:nvPr/>
        </p:nvSpPr>
        <p:spPr>
          <a:xfrm>
            <a:off x="5170811" y="1941458"/>
            <a:ext cx="384121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400" b="0" dirty="0">
                <a:effectLst/>
                <a:latin typeface="quote-cjk-patch"/>
              </a:rPr>
              <a:t>Визуализация внимания показывает, что модель фокусируется на смысловом ядре («ремонт»), игнорируя служебные токены и окончания. Это подтверждает интерпретируемость и высокое качество классификации (</a:t>
            </a:r>
            <a:r>
              <a:rPr lang="en" sz="1400" b="0" dirty="0">
                <a:effectLst/>
                <a:latin typeface="quote-cjk-patch"/>
              </a:rPr>
              <a:t>F1 = 0.9939).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840682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6A797CC-B650-04F3-F1C8-B26987C9F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71" y="509798"/>
            <a:ext cx="4996831" cy="39974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602949-0913-F4D1-1DF6-EF5BE489F9E2}"/>
              </a:ext>
            </a:extLst>
          </p:cNvPr>
          <p:cNvSpPr txBox="1"/>
          <p:nvPr/>
        </p:nvSpPr>
        <p:spPr>
          <a:xfrm>
            <a:off x="5269810" y="1481038"/>
            <a:ext cx="334820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200" dirty="0">
                <a:effectLst/>
                <a:latin typeface="quote-cjk-patch"/>
              </a:rPr>
              <a:t>На матрице мы видим, что работы (</a:t>
            </a:r>
            <a:r>
              <a:rPr lang="en" sz="1200" dirty="0">
                <a:effectLst/>
                <a:latin typeface="quote-cjk-patch"/>
              </a:rPr>
              <a:t>T4–T6) </a:t>
            </a:r>
            <a:r>
              <a:rPr lang="ru-RU" sz="1200" dirty="0">
                <a:effectLst/>
                <a:latin typeface="quote-cjk-patch"/>
              </a:rPr>
              <a:t>очень близки друг к другу (сходство 0.99). Поставки </a:t>
            </a:r>
            <a:r>
              <a:rPr lang="en" sz="1200" dirty="0">
                <a:effectLst/>
                <a:latin typeface="quote-cjk-patch"/>
              </a:rPr>
              <a:t>T2–T3 </a:t>
            </a:r>
            <a:r>
              <a:rPr lang="ru-RU" sz="1200" dirty="0">
                <a:effectLst/>
                <a:latin typeface="quote-cjk-patch"/>
              </a:rPr>
              <a:t>тоже близки. При этом </a:t>
            </a:r>
            <a:r>
              <a:rPr lang="en" sz="1200" dirty="0">
                <a:effectLst/>
                <a:latin typeface="quote-cjk-patch"/>
              </a:rPr>
              <a:t>T1 — </a:t>
            </a:r>
            <a:r>
              <a:rPr lang="ru-RU" sz="1200" dirty="0">
                <a:effectLst/>
                <a:latin typeface="quote-cjk-patch"/>
              </a:rPr>
              <a:t>смешанный текст с упоминанием ремонта — показывает неоднозначные результаты, что говорит о том, что модель действительно анализирует контекст, а не просто запоминает ключевые слова. Это подтверждает высокое качество работы модели</a:t>
            </a:r>
            <a:endParaRPr lang="ru-RU" sz="1200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D7FEBDEE-CDD2-4DBD-E2E6-3E967B08095B}"/>
              </a:ext>
            </a:extLst>
          </p:cNvPr>
          <p:cNvSpPr/>
          <p:nvPr/>
        </p:nvSpPr>
        <p:spPr>
          <a:xfrm>
            <a:off x="131977" y="101152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1400" b="1" dirty="0">
                <a:effectLst/>
                <a:latin typeface="quote-cjk-patch"/>
              </a:rPr>
              <a:t>Косинусное сходство </a:t>
            </a:r>
            <a:r>
              <a:rPr lang="ru-RU" sz="1400" b="1" dirty="0" err="1">
                <a:effectLst/>
                <a:latin typeface="quote-cjk-patch"/>
              </a:rPr>
              <a:t>эмбеддингов</a:t>
            </a:r>
            <a:r>
              <a:rPr lang="ru-RU" sz="1400" b="1" dirty="0">
                <a:effectLst/>
                <a:latin typeface="quote-cjk-patch"/>
              </a:rPr>
              <a:t> [</a:t>
            </a:r>
            <a:r>
              <a:rPr lang="en" sz="1400" b="1" dirty="0">
                <a:effectLst/>
                <a:latin typeface="quote-cjk-patch"/>
              </a:rPr>
              <a:t>CLS]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17786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76EB0A4-FF1E-AB8B-7519-324C15405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301" y="620413"/>
            <a:ext cx="7772400" cy="3331028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965BAFF4-2F10-8596-4CD4-AFE04B304C98}"/>
              </a:ext>
            </a:extLst>
          </p:cNvPr>
          <p:cNvSpPr/>
          <p:nvPr/>
        </p:nvSpPr>
        <p:spPr>
          <a:xfrm>
            <a:off x="131977" y="101152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latin typeface="quote-cjk-patch"/>
              </a:rPr>
              <a:t> </a:t>
            </a:r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A37841-6306-AD71-B3AF-6428B420BE57}"/>
              </a:ext>
            </a:extLst>
          </p:cNvPr>
          <p:cNvSpPr txBox="1"/>
          <p:nvPr/>
        </p:nvSpPr>
        <p:spPr>
          <a:xfrm>
            <a:off x="202301" y="101152"/>
            <a:ext cx="67583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dirty="0">
                <a:latin typeface="quote-cjk-patch"/>
              </a:rPr>
              <a:t>Важность токенов </a:t>
            </a:r>
            <a:r>
              <a:rPr lang="en-US" sz="1200" b="1" dirty="0">
                <a:latin typeface="quote-cjk-patch"/>
              </a:rPr>
              <a:t>:</a:t>
            </a:r>
            <a:r>
              <a:rPr lang="ru-RU" sz="1200" b="0" i="0" dirty="0">
                <a:effectLst/>
                <a:latin typeface="quote-cjk-patch"/>
              </a:rPr>
              <a:t>Определить, какие слова в тексте оказали наибольшее влияние на решение модели</a:t>
            </a:r>
            <a:r>
              <a:rPr lang="ru-RU" sz="1200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  <a:endParaRPr lang="ru-RU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FCE5EC-BBE4-D4A4-0AF2-20319354B4F0}"/>
              </a:ext>
            </a:extLst>
          </p:cNvPr>
          <p:cNvSpPr txBox="1"/>
          <p:nvPr/>
        </p:nvSpPr>
        <p:spPr>
          <a:xfrm>
            <a:off x="131976" y="4009037"/>
            <a:ext cx="81517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0" dirty="0">
                <a:effectLst/>
                <a:latin typeface="quote-cjk-patch"/>
              </a:rPr>
              <a:t>Зелёный = за </a:t>
            </a:r>
            <a:r>
              <a:rPr lang="en" sz="1200" b="0" dirty="0">
                <a:effectLst/>
                <a:latin typeface="quote-cjk-patch"/>
              </a:rPr>
              <a:t>Work, </a:t>
            </a:r>
            <a:r>
              <a:rPr lang="ru-RU" sz="1200" b="0" dirty="0">
                <a:effectLst/>
                <a:latin typeface="quote-cjk-patch"/>
              </a:rPr>
              <a:t>красный = против. Модель опирается на слово «ремонт», игнорируя [</a:t>
            </a:r>
            <a:r>
              <a:rPr lang="en" sz="1200" b="0" dirty="0">
                <a:effectLst/>
                <a:latin typeface="quote-cjk-patch"/>
              </a:rPr>
              <a:t>CLS] </a:t>
            </a:r>
            <a:r>
              <a:rPr lang="ru-RU" sz="1200" b="0" dirty="0">
                <a:effectLst/>
                <a:latin typeface="quote-cjk-patch"/>
              </a:rPr>
              <a:t>и [</a:t>
            </a:r>
            <a:r>
              <a:rPr lang="en" sz="1200" b="0" dirty="0">
                <a:effectLst/>
                <a:latin typeface="quote-cjk-patch"/>
              </a:rPr>
              <a:t>SEP]</a:t>
            </a:r>
          </a:p>
          <a:p>
            <a:r>
              <a:rPr lang="en-US" sz="1200" b="0" dirty="0">
                <a:effectLst/>
                <a:latin typeface="quote-cjk-patch"/>
              </a:rPr>
              <a:t>C</a:t>
            </a:r>
            <a:r>
              <a:rPr lang="ru-RU" sz="1200" b="0" dirty="0" err="1">
                <a:effectLst/>
                <a:latin typeface="quote-cjk-patch"/>
              </a:rPr>
              <a:t>лово</a:t>
            </a:r>
            <a:r>
              <a:rPr lang="ru-RU" sz="1200" b="0" dirty="0">
                <a:effectLst/>
                <a:latin typeface="quote-cjk-patch"/>
              </a:rPr>
              <a:t> «ремонт» — главный признак класса </a:t>
            </a:r>
            <a:r>
              <a:rPr lang="en" sz="1200" b="0" dirty="0">
                <a:effectLst/>
                <a:latin typeface="quote-cjk-patch"/>
              </a:rPr>
              <a:t>Work, «</a:t>
            </a:r>
            <a:r>
              <a:rPr lang="ru-RU" sz="1200" b="0" dirty="0">
                <a:effectLst/>
                <a:latin typeface="quote-cjk-patch"/>
              </a:rPr>
              <a:t>поставка» — против него. Служебные токены модель игнорирует. Это доказывает, что классификация основана на смысле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2471864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11733"/>
            <a:ext cx="4722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Ключевые выводы</a:t>
            </a:r>
            <a:endParaRPr lang="en-US" sz="2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962025"/>
            <a:ext cx="4722763" cy="90755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20530" y="1100286"/>
            <a:ext cx="43890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Лучшая модель — 07_RuBERT_base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4120530" y="1359247"/>
            <a:ext cx="4389090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F1 = </a:t>
            </a:r>
            <a:r>
              <a:rPr lang="en-US" sz="9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0.9939</a:t>
            </a: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ROC-AUC = </a:t>
            </a:r>
            <a:r>
              <a:rPr lang="en-US" sz="9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0.9992</a:t>
            </a: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статистически значимо лучше остальных (p-value = 0.0435)</a:t>
            </a:r>
            <a:endParaRPr lang="en-US" sz="9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1978075"/>
            <a:ext cx="4722763" cy="72151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20530" y="2116336"/>
            <a:ext cx="43890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Дообучение не дало прироста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4120530" y="2375297"/>
            <a:ext cx="4389090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07 vs 08: F1 </a:t>
            </a:r>
            <a:r>
              <a:rPr lang="en-US" sz="9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0.9939</a:t>
            </a: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vs </a:t>
            </a:r>
            <a:r>
              <a:rPr lang="en-US" sz="9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0.9920</a:t>
            </a: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fine-tuning не улучшил качество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808089"/>
            <a:ext cx="4722763" cy="90755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120530" y="2946350"/>
            <a:ext cx="43890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Полные нейросети лучше гибридных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4120530" y="3205311"/>
            <a:ext cx="4389090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07 (0.9939) vs 03 (0.9820) — архитектура с классификационной головой эффективнее</a:t>
            </a:r>
            <a:endParaRPr lang="en-US" sz="9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3824139"/>
            <a:ext cx="4722763" cy="90755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120530" y="3962400"/>
            <a:ext cx="43890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TF-IDF + LogReg — отличный бейзлайн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4120530" y="4221361"/>
            <a:ext cx="4389090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F1 = </a:t>
            </a:r>
            <a:r>
              <a:rPr lang="en-US" sz="9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0.9814</a:t>
            </a: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за </a:t>
            </a:r>
            <a:r>
              <a:rPr lang="en-US" sz="9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5 секунд</a:t>
            </a: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быстрый и качественный результат для лёгких задач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8712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Перспективы развития проекта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984474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Развитие модели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347689"/>
            <a:ext cx="3902943" cy="1559123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Увеличение объёма данных для дообучения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Добавление новых признаков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RuBERT-large (24 слоя, 1024) и Qwen/Mistral для сложных случаев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Оптимизация архитектуры и обработки текста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Внедрение Active Learning для автообновления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47605" y="1842715"/>
            <a:ext cx="4107135" cy="2113657"/>
          </a:xfrm>
          <a:prstGeom prst="roundRect">
            <a:avLst>
              <a:gd name="adj" fmla="val 1006"/>
            </a:avLst>
          </a:prstGeom>
          <a:solidFill>
            <a:srgbClr val="101014"/>
          </a:solidFill>
          <a:ln/>
        </p:spPr>
      </p:sp>
      <p:sp>
        <p:nvSpPr>
          <p:cNvPr id="6" name="Text 4"/>
          <p:cNvSpPr/>
          <p:nvPr/>
        </p:nvSpPr>
        <p:spPr>
          <a:xfrm>
            <a:off x="4789363" y="1984474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Коммерческий запуск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89363" y="2347689"/>
            <a:ext cx="3823618" cy="1282750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Интеграция LLM (Qwen/Mistral) в RAG-чат-бот для генерации КП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Модуль прогнозирования маржинальности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REST API для интеграции с CRM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Ежемесячная подписка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639</TotalTime>
  <Words>1036</Words>
  <Application>Microsoft Macintosh PowerPoint</Application>
  <PresentationFormat>Экран (16:9)</PresentationFormat>
  <Paragraphs>177</Paragraphs>
  <Slides>16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5" baseType="lpstr">
      <vt:lpstr>quote-cjk-patch</vt:lpstr>
      <vt:lpstr>Playfair Display Bold</vt:lpstr>
      <vt:lpstr>Arial</vt:lpstr>
      <vt:lpstr>Open Sans</vt:lpstr>
      <vt:lpstr>Consolas</vt:lpstr>
      <vt:lpstr>Open Sans Bold</vt:lpstr>
      <vt:lpstr>Calibri</vt:lpstr>
      <vt:lpstr>Playfair Display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Microsoft Office User</cp:lastModifiedBy>
  <cp:revision>3</cp:revision>
  <dcterms:created xsi:type="dcterms:W3CDTF">2026-08-16T10:55:58Z</dcterms:created>
  <dcterms:modified xsi:type="dcterms:W3CDTF">2026-08-16T21:56:33Z</dcterms:modified>
</cp:coreProperties>
</file>